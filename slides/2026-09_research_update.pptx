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macro-F1</c:v>
                </c:pt>
              </c:strCache>
            </c:strRef>
          </c:tx>
          <c:spPr>
            <a:solidFill>
              <a:srgbClr val="8A93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631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3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Baseline
(zero-shot)</c:v>
                  </c:pt>
                  <c:pt idx="1">
                    <c:v>NoHist</c:v>
                  </c:pt>
                  <c:pt idx="2">
                    <c:v>Hist8</c:v>
                  </c:pt>
                  <c:pt idx="3">
                    <c:v>Hist3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34.21</c:v>
                </c:pt>
                <c:pt idx="1">
                  <c:v>38.28</c:v>
                </c:pt>
                <c:pt idx="2">
                  <c:v>42.16</c:v>
                </c:pt>
                <c:pt idx="3">
                  <c:v>42.03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2631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9CED6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631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9525" cap="flat">
              <a:solidFill>
                <a:srgbClr val="C9CE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frustrated recall</c:v>
                </c:pt>
              </c:strCache>
            </c:strRef>
          </c:tx>
          <c:spPr>
            <a:solidFill>
              <a:srgbClr val="8A93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631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3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65B4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65B4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NoHist</c:v>
                  </c:pt>
                  <c:pt idx="1">
                    <c:v>Hist8</c:v>
                  </c:pt>
                  <c:pt idx="2">
                    <c:v>Hist3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27.82</c:v>
                </c:pt>
                <c:pt idx="1">
                  <c:v>24.41</c:v>
                </c:pt>
                <c:pt idx="2">
                  <c:v>25.98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2631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9CED6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631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9525" cap="flat">
              <a:solidFill>
                <a:srgbClr val="C9CE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631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A93A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A93A3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Agree</c:v>
                  </c:pt>
                  <c:pt idx="1">
                    <c:v>Disagree
(NoHist)</c:v>
                  </c:pt>
                  <c:pt idx="2">
                    <c:v>Disagree
(Hist3)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46.89</c:v>
                </c:pt>
                <c:pt idx="1">
                  <c:v>26.48</c:v>
                </c:pt>
                <c:pt idx="2">
                  <c:v>35.62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2631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9CED6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631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9525" cap="flat">
              <a:solidFill>
                <a:srgbClr val="C9CE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NoHist adapter</c:v>
                </c:pt>
              </c:strCache>
            </c:strRef>
          </c:tx>
          <c:spPr>
            <a:solidFill>
              <a:srgbClr val="8A93A3"/>
            </a:solidFill>
            <a:ln w="28575" cap="flat">
              <a:solidFill>
                <a:srgbClr val="8A93A3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26313F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A93A3"/>
              </a:solidFill>
              <a:ln w="9525" cap="flat">
                <a:solidFill>
                  <a:srgbClr val="8A93A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NoHist eval</c:v>
                  </c:pt>
                  <c:pt idx="1">
                    <c:v>Hist3 eval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60.188</c:v>
                </c:pt>
                <c:pt idx="1">
                  <c:v>61.801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Hist3 adapter</c:v>
                </c:pt>
              </c:strCache>
            </c:strRef>
          </c:tx>
          <c:spPr>
            <a:solidFill>
              <a:srgbClr val="1B2A4A"/>
            </a:solidFill>
            <a:ln w="28575" cap="flat">
              <a:solidFill>
                <a:srgbClr val="1B2A4A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26313F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B2A4A"/>
              </a:solidFill>
              <a:ln w="9525" cap="flat">
                <a:solidFill>
                  <a:srgbClr val="1B2A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NoHist eval</c:v>
                  </c:pt>
                  <c:pt idx="1">
                    <c:v>Hist3 eval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57.786</c:v>
                </c:pt>
                <c:pt idx="1">
                  <c:v>66.781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26313F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9CED6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631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54"/>
        </c:scaling>
        <c:delete val="1"/>
        <c:axPos val="l"/>
        <c:majorGridlines>
          <c:spPr>
            <a:ln w="9525" cap="flat">
              <a:solidFill>
                <a:srgbClr val="C9CE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Multimodal Emotion Recognition on IEMOCAP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Pranav Jaiganesh   ·   Supervisor: Prof. Chng Eng Siong   ·   Nanyang Technological University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63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does conversational history affect emotion recognition — before and after task adaptation?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88336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6-class speech emotion recognition on IEMOCAP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happy, sad, neutral, angry, excited, frustrated (kept separate)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waveform + ground-truth transcript, no hand-engineered acoustic features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239572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conditions studied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2688336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NoHist — target utterance scored on its own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History-conditioned — preceding dialogue turns supplied as anonymized, transcript-only context (window length varied across experiments)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272388" y="4663440"/>
            <a:ext cx="28803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72388" y="47548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1–3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272388" y="50292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272388" y="52852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4,246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152748" y="490118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655668" y="4663440"/>
            <a:ext cx="28803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55668" y="47548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655668" y="50292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&amp; model selection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655668" y="52852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1,512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536028" y="490118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038948" y="4663440"/>
            <a:ext cx="28803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38948" y="47548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038948" y="50292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final test — untouched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038948" y="52852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1,622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Zero-Shot to a Shorter Context Window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dialogue context helps on average — but not for every class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 on Session 5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37360"/>
          <a:ext cx="55778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892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uses the original zero-shot scoring parser; NoHist / Hist8 / Hist3 use a shared deterministic parser for direct comparison.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41732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frustrated-class recall (the failure mode)</a:t>
            </a:r>
            <a:endParaRPr lang="en-US" sz="125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6309360" y="1737360"/>
          <a:ext cx="54864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00800" y="466344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8-turn window hurt frustrated recall the most. A 3-turn window (Hist3) recovers most of that loss — the motivation for using Hist3 going forward.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Check, Then the Move to Fine-Tuning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calibration (Sessions 1–4, N = 1,200, disjoint from Session 5)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81.75%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286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NoHist / Hist3 predictions agree</a:t>
            </a:r>
            <a:endParaRPr lang="en-US" sz="11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794760" y="1371600"/>
          <a:ext cx="42062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321040" y="1417320"/>
            <a:ext cx="333756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is substantially higher when the two context settings agree than when they disagree (χ² p &lt; 0.01 for both comparisons), replicated independently of Session 5.
</a:t>
            </a:r>
            <a:pPr indent="0" marL="0">
              <a:lnSpc>
                <a:spcPct val="115000"/>
              </a:lnSpc>
              <a:buNone/>
            </a:pPr>
            <a:r>
              <a:rPr lang="en-US" sz="115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agreement across context settings is a usable reliability signal, not just noise.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892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Proceeded to LoRA fine-tuning.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 validated first: 144 attention-projection modules targeted, 7.37M / 5.54B parameters trainable (0.13%); a 7-stage smoke test (forward/backward, gradient isolation, checkpoint resume, generation) passed all 7 checks before any full training run.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LoRA Adaptation: The Final Untouched Session-5 Evaluation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adapters, trained on their own format only (Sessions 1–3), evaluated in both formats on the held-out test set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8745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423160" y="1417320"/>
            <a:ext cx="1508760" cy="530352"/>
          </a:xfrm>
          <a:prstGeom prst="rect">
            <a:avLst/>
          </a:prstGeom>
          <a:solidFill>
            <a:srgbClr val="F2F3F5"/>
          </a:solidFill>
          <a:ln w="9525">
            <a:solidFill>
              <a:srgbClr val="C9CE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1920" y="1417320"/>
            <a:ext cx="1508760" cy="530352"/>
          </a:xfrm>
          <a:prstGeom prst="rect">
            <a:avLst/>
          </a:prstGeom>
          <a:solidFill>
            <a:srgbClr val="F2F3F5"/>
          </a:solidFill>
          <a:ln w="9525">
            <a:solidFill>
              <a:srgbClr val="C9CE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417320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423160" y="1417320"/>
            <a:ext cx="1508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NoHist eval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931920" y="1417320"/>
            <a:ext cx="1508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Hist3 eval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1947672"/>
            <a:ext cx="1874520" cy="530352"/>
          </a:xfrm>
          <a:prstGeom prst="rect">
            <a:avLst/>
          </a:prstGeom>
          <a:solidFill>
            <a:srgbClr val="F2F3F5"/>
          </a:solidFill>
          <a:ln w="9525">
            <a:solidFill>
              <a:srgbClr val="C9CE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23160" y="1947672"/>
            <a:ext cx="150876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1920" y="1947672"/>
            <a:ext cx="150876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1947672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NoHist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423160" y="1947672"/>
            <a:ext cx="1508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60.188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1947672"/>
            <a:ext cx="1508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61.801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2478024"/>
            <a:ext cx="1874520" cy="530352"/>
          </a:xfrm>
          <a:prstGeom prst="rect">
            <a:avLst/>
          </a:prstGeom>
          <a:solidFill>
            <a:srgbClr val="F2F3F5"/>
          </a:solidFill>
          <a:ln w="9525">
            <a:solidFill>
              <a:srgbClr val="C9CE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23160" y="2478024"/>
            <a:ext cx="150876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31920" y="2478024"/>
            <a:ext cx="150876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478024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423160" y="2478024"/>
            <a:ext cx="1508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57.786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931920" y="2478024"/>
            <a:ext cx="1508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66.781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13716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× inference context interaction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309360" y="16642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NoHist adapter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366760" y="16642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Hist3 adapter</a:t>
            </a:r>
            <a:endParaRPr lang="en-US" sz="10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6217920" y="1965960"/>
          <a:ext cx="553212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 txBox="1"/>
          <p:nvPr/>
        </p:nvSpPr>
        <p:spPr>
          <a:xfrm>
            <a:off x="548640" y="40233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3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+1.613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439826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NoHist adapter, +history at inference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3300984" y="3977640"/>
            <a:ext cx="0" cy="914400"/>
          </a:xfrm>
          <a:prstGeom prst="line">
            <a:avLst/>
          </a:prstGeom>
          <a:noFill/>
          <a:ln w="9525">
            <a:solidFill>
              <a:srgbClr val="C9CED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355848" y="40233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3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+8.995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3447288" y="439826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Hist3 adapter, +history at inference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6108192" y="3977640"/>
            <a:ext cx="0" cy="914400"/>
          </a:xfrm>
          <a:prstGeom prst="line">
            <a:avLst/>
          </a:prstGeom>
          <a:noFill/>
          <a:ln w="9525">
            <a:solidFill>
              <a:srgbClr val="C9CED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163056" y="40233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3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−2.402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6254496" y="439826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Hist3 vs NoHist training, NoHist eval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8915400" y="3977640"/>
            <a:ext cx="0" cy="914400"/>
          </a:xfrm>
          <a:prstGeom prst="line">
            <a:avLst/>
          </a:prstGeom>
          <a:noFill/>
          <a:ln w="9525">
            <a:solidFill>
              <a:srgbClr val="C9CED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970264" y="40233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3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+4.980</a:t>
            </a:r>
            <a:endParaRPr lang="en-US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9061704" y="439826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Hist3 vs NoHist training, Hist3 eval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48640" y="5120640"/>
            <a:ext cx="11094415" cy="0"/>
          </a:xfrm>
          <a:prstGeom prst="line">
            <a:avLst/>
          </a:prstGeom>
          <a:noFill/>
          <a:ln w="12700">
            <a:solidFill>
              <a:srgbClr val="C9CED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53035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× inference-context interaction:  </a:t>
            </a:r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+7.382 macro-F1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Finding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usefulness of conversational history depends strongly on matching training-time and inference-time context — it is not a fixed property of “adding history.”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Hist3-trained adapter becomes substantially dependent on the contextual format it was trained with; the matched Hist3/Hist3 system reaches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66.781% macro-F1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untouched Session-5 test set — its best result of the whole study.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1094415" cy="0"/>
          </a:xfrm>
          <a:prstGeom prst="line">
            <a:avLst/>
          </a:prstGeom>
          <a:noFill/>
          <a:ln w="12700">
            <a:solidFill>
              <a:srgbClr val="C9CE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8803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NoHist/NoHist → Hist3/Hist3 difference on the held-out test set (60.19% → 66.78%) is an end-to-end matched-system comparison, not a pure causal effect of “history improves the model.” The 2×2 grid is what isolates the training×inference interaction above; the matched-pair difference alone would not have shown it.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776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so far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4434840"/>
            <a:ext cx="2057949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4544568"/>
            <a:ext cx="191164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5093208"/>
            <a:ext cx="19116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34.2%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606589" y="476402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07757" y="4434840"/>
            <a:ext cx="2057949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80909" y="4544568"/>
            <a:ext cx="191164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(Hist3)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880909" y="5093208"/>
            <a:ext cx="19116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42.0%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865705" y="476402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66873" y="4434840"/>
            <a:ext cx="2057949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40025" y="4544568"/>
            <a:ext cx="191164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140025" y="5093208"/>
            <a:ext cx="19116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81.8% agree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124822" y="476402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325990" y="4434840"/>
            <a:ext cx="2057949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99142" y="4544568"/>
            <a:ext cx="191164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fine-tuning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(matched pairs)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399142" y="5093208"/>
            <a:ext cx="19116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58.7% / 63.7%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383939" y="476402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585107" y="4434840"/>
            <a:ext cx="2057949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58259" y="4544568"/>
            <a:ext cx="191164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Untouched S5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6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2×2 evaluation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58259" y="5093208"/>
            <a:ext cx="19116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66.8% best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2026-09-22T13:15:32Z</dcterms:created>
  <dcterms:modified xsi:type="dcterms:W3CDTF">2026-09-22T13:15:32Z</dcterms:modified>
</cp:coreProperties>
</file>